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9713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011680"/>
            <a:ext cx="8869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Arial"/>
              </a:defRPr>
            </a:pPr>
            <a:r>
              <a:t>Excel Core Functions &amp; Diagnostics</a:t>
            </a:r>
          </a:p>
          <a:p>
            <a:pPr>
              <a:spcBef>
                <a:spcPts val="1400"/>
              </a:spcBef>
              <a:defRPr sz="2000" b="1">
                <a:solidFill>
                  <a:srgbClr val="10B981"/>
                </a:solidFill>
                <a:latin typeface="Arial"/>
              </a:defRPr>
            </a:pPr>
            <a:r>
              <a:t>Pages 18 – 20 Comprehensive Course Guide</a:t>
            </a:r>
          </a:p>
          <a:p>
            <a:pPr>
              <a:spcBef>
                <a:spcPts val="18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Mathematical Formulas • Statistical Analysis • Rounding Rules • Error Troubleshooting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Anatomy of an Excel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What is a Function?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A predefined formula built into Excel that performs specific calculations automatically.</a:t>
            </a:r>
          </a:p>
          <a:p>
            <a:pPr>
              <a:spcBef>
                <a:spcPts val="1400"/>
              </a:spcBef>
              <a:defRPr sz="1400" b="1">
                <a:solidFill>
                  <a:srgbClr val="0F172A"/>
                </a:solidFill>
              </a:defRPr>
            </a:pPr>
            <a:r>
              <a:t>3 Key Components: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1. Equal Sign (=)</a:t>
            </a:r>
            <a:br/>
            <a:r>
              <a:t>   Tells Excel to calculate rather than treat as text.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2. Function Name (e.g., SUM, AVERAGE)</a:t>
            </a:r>
            <a:br/>
            <a:r>
              <a:t>   Identifies the operation to execute.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3. Arguments inside Parentheses ( )</a:t>
            </a:r>
            <a:br/>
            <a:r>
              <a:t>   The cell values or ranges (A1:A10) being calculated.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Formula Syntax Breakdown</a:t>
            </a:r>
          </a:p>
          <a:p>
            <a:pPr>
              <a:spcBef>
                <a:spcPts val="1600"/>
              </a:spcBef>
              <a:defRPr sz="2200" b="1">
                <a:solidFill>
                  <a:srgbClr val="2563EB"/>
                </a:solidFill>
                <a:latin typeface="Courier New"/>
              </a:defRPr>
            </a:pPr>
            <a:r>
              <a:t>  = SUM ( A1 : A5 )  </a:t>
            </a:r>
          </a:p>
          <a:p>
            <a:pPr>
              <a:spcBef>
                <a:spcPts val="2000"/>
              </a:spcBef>
              <a:defRPr sz="1400" b="1">
                <a:solidFill>
                  <a:srgbClr val="0F172A"/>
                </a:solidFill>
              </a:defRPr>
            </a:pPr>
            <a:r>
              <a:t>Comparison: Manual vs. Function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❌ Manual:   = A1 + A2 + A3 + A4 + A5</a:t>
            </a:r>
            <a:br/>
            <a:r>
              <a:t>   (Tedious and breaks if rows are added)</a:t>
            </a:r>
            <a:br/>
            <a:br/>
            <a:r>
              <a:t>✅ Function:  = SUM(A1:A5)</a:t>
            </a:r>
            <a:br/>
            <a:r>
              <a:t>   (Fast, scalable, and dynamically updates)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AGGREGATION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1. SUM &amp; 2.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SUM(range)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Adds all numerical values across selected cells.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  <a:latin typeface="Courier New"/>
              </a:defRPr>
            </a:pPr>
            <a:r>
              <a:t>Syntax: =SUM(number1, [number2], ...)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Example Dataset: [10, 20, 30, 40]</a:t>
            </a:r>
            <a:br/>
            <a:r>
              <a:t>=SUM(A1:A4)</a:t>
            </a:r>
            <a:br/>
            <a:r>
              <a:t>➜ Result: 100</a:t>
            </a:r>
          </a:p>
          <a:p>
            <a:pPr>
              <a:spcBef>
                <a:spcPts val="1400"/>
              </a:spcBef>
              <a:defRPr sz="1200" i="1">
                <a:solidFill>
                  <a:srgbClr val="D97706"/>
                </a:solidFill>
              </a:defRPr>
            </a:pPr>
            <a:r>
              <a:t>💡 Tip: Ignores text and empty cells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AVERAGE(range)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Calculates the arithmetic mean of numbers in a range.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  <a:latin typeface="Courier New"/>
              </a:defRPr>
            </a:pPr>
            <a:r>
              <a:t>Syntax: =AVERAGE(number1, [number2], ...)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Formula Logic:</a:t>
            </a:r>
            <a:br/>
            <a:r>
              <a:t>Average = Total Sum ÷ Total Count</a:t>
            </a:r>
            <a:br/>
            <a:br/>
            <a:r>
              <a:t>Example: (10 + 20 + 30 + 40) ÷ 4</a:t>
            </a:r>
            <a:br/>
            <a:r>
              <a:t>➜ Result: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Visualizing AVERAGE: The Equal Redistribution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The 'Leveling Water' Concept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Imagine 3 glasses with different water levels:</a:t>
            </a:r>
            <a:br/>
            <a:r>
              <a:t>• Glass 1 = 2 units</a:t>
            </a:r>
            <a:br/>
            <a:r>
              <a:t>• Glass 2 = 4 units</a:t>
            </a:r>
            <a:br/>
            <a:r>
              <a:t>• Glass 3 = 9 units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When poured together and shared equally:</a:t>
            </a:r>
            <a:br/>
            <a:r>
              <a:t>Total = 2 + 4 + 9 = 15 units</a:t>
            </a:r>
            <a:br/>
            <a:r>
              <a:t>Each glass receives: 15 ÷ 3 = 5 units</a:t>
            </a:r>
          </a:p>
          <a:p>
            <a:pPr>
              <a:spcBef>
                <a:spcPts val="1400"/>
              </a:spcBef>
              <a:defRPr sz="1400" b="1">
                <a:solidFill>
                  <a:srgbClr val="0F172A"/>
                </a:solidFill>
              </a:defRPr>
            </a:pPr>
            <a:r>
              <a:t>Key Insight: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The AVERAGE is the single value where the sum of deviations above equals the sum of deviations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Redistribution Simulation</a:t>
            </a:r>
          </a:p>
          <a:p>
            <a:pPr>
              <a:spcBef>
                <a:spcPts val="1600"/>
              </a:spcBef>
              <a:defRPr sz="1400" b="1">
                <a:solidFill>
                  <a:srgbClr val="10B981"/>
                </a:solidFill>
                <a:latin typeface="Courier New"/>
              </a:defRPr>
            </a:pPr>
            <a:r>
              <a:t>Original Values:      [ 2 ]     [ 4 ]     [ 9 ]</a:t>
            </a:r>
            <a:br/>
            <a:r>
              <a:t>                       ⬇         ⬇         ⬇</a:t>
            </a:r>
            <a:br/>
            <a:r>
              <a:t>Combined Sum:                  15 Total</a:t>
            </a:r>
            <a:br/>
            <a:r>
              <a:t>                       ⬇         ⬇         ⬇</a:t>
            </a:r>
            <a:br/>
            <a:r>
              <a:t>Balanced Average:     [ 5 ]     [ 5 ]     [ 5 ]</a:t>
            </a:r>
          </a:p>
          <a:p>
            <a:pPr>
              <a:spcBef>
                <a:spcPts val="2000"/>
              </a:spcBef>
              <a:defRPr sz="1400" b="1">
                <a:solidFill>
                  <a:srgbClr val="0F172A"/>
                </a:solidFill>
              </a:defRPr>
            </a:pPr>
            <a:r>
              <a:t>Comparison with MEDIAN: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AVERAGE = 5  (Calculated from all values)</a:t>
            </a:r>
            <a:br/>
            <a:r>
              <a:t>• MEDIAN  = 4  (The exact middle item)</a:t>
            </a:r>
            <a:br/>
            <a:br/>
            <a:r>
              <a:t>If Glass 3 increases to 99:</a:t>
            </a:r>
            <a:br/>
            <a:r>
              <a:t>• AVERAGE jumps to 35 (Distorted by outlier!)</a:t>
            </a:r>
            <a:br/>
            <a:r>
              <a:t>• MEDIAN stays at 4 (Stable!)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ROUNDING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3. ROUND, 4. ROUNDUP, 5. ROUNDDOWN &amp; 6. 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3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ROUND(num, digits)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Standard Rounding Rule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Rounds 0-4 DOWN, 5-9 UP.</a:t>
            </a:r>
            <a:br/>
            <a:br/>
            <a:r>
              <a:t>=ROUND(3.1415, 2)  ➜ 3.14</a:t>
            </a:r>
            <a:br/>
            <a:r>
              <a:t>=ROUND(3.1465, 2)  ➜ 3.15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3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ROUNDUP(num, digits)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Always Round Away from 0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Forces rounding UP to next increment.</a:t>
            </a:r>
            <a:br/>
            <a:br/>
            <a:r>
              <a:t>=ROUNDUP(3.1415, 2) ➜ 3.15</a:t>
            </a:r>
            <a:br/>
            <a:r>
              <a:t>=ROUNDUP(12.01, 0)   ➜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ROUNDDOWN(num, digits)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Always Round Toward 0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Truncates / chops off extra digits.</a:t>
            </a:r>
            <a:br/>
            <a:br/>
            <a:r>
              <a:t>=ROUNDDOWN(3.1499, 2) ➜ 3.14</a:t>
            </a:r>
            <a:br/>
            <a:r>
              <a:t>=ROUNDDOWN(12.99, 0)   ➜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INT(number)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Nearest Lower Integer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Drops all decimals, returns whole integer.</a:t>
            </a:r>
            <a:br/>
            <a:br/>
            <a:r>
              <a:t>=INT(7.9)   ➜ 7</a:t>
            </a:r>
            <a:br/>
            <a:r>
              <a:t>=INT(-3.2)  ➜ -4 (Rounds down!)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EXTREMES &amp; POSITIONAL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7. MAX, 8. MIN, 9. LARGE &amp; 10. SMALL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Absolute Extremes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  <a:latin typeface="Courier New"/>
              </a:defRPr>
            </a:pPr>
            <a:r>
              <a:t>=MAX(range)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Returns the highest value in a dataset.</a:t>
            </a:r>
            <a:br/>
            <a:r>
              <a:t>Example: =MAX(85, 92, 78, 99) ➜ 99</a:t>
            </a:r>
          </a:p>
          <a:p>
            <a:pPr>
              <a:spcBef>
                <a:spcPts val="1600"/>
              </a:spcBef>
              <a:defRPr sz="1500" b="1">
                <a:solidFill>
                  <a:srgbClr val="2563EB"/>
                </a:solidFill>
                <a:latin typeface="Courier New"/>
              </a:defRPr>
            </a:pPr>
            <a:r>
              <a:t>=MIN(range)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Returns the lowest value in a dataset.</a:t>
            </a:r>
            <a:br/>
            <a:r>
              <a:t>Example: =MIN(85, 92, 78, 99) ➜ 78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Ranked k-th Extremes</a:t>
            </a:r>
          </a:p>
          <a:p>
            <a:pPr>
              <a:spcBef>
                <a:spcPts val="1000"/>
              </a:spcBef>
              <a:defRPr sz="1500" b="1">
                <a:solidFill>
                  <a:srgbClr val="7C3AED"/>
                </a:solidFill>
                <a:latin typeface="Courier New"/>
              </a:defRPr>
            </a:pPr>
            <a:r>
              <a:t>=LARGE(range, k)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Returns the k-th largest value.</a:t>
            </a:r>
            <a:br/>
            <a:r>
              <a:t>• k = 1 ➜ Same as MAX</a:t>
            </a:r>
            <a:br/>
            <a:r>
              <a:t>• k = 2 ➜ 2nd highest score</a:t>
            </a:r>
            <a:br/>
            <a:r>
              <a:t>Example: =LARGE({50, 80, 95, 70}, 2) ➜ 80</a:t>
            </a:r>
          </a:p>
          <a:p>
            <a:pPr>
              <a:spcBef>
                <a:spcPts val="1600"/>
              </a:spcBef>
              <a:defRPr sz="1500" b="1">
                <a:solidFill>
                  <a:srgbClr val="D97706"/>
                </a:solidFill>
                <a:latin typeface="Courier New"/>
              </a:defRPr>
            </a:pPr>
            <a:r>
              <a:t>=SMALL(range, k)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Returns the k-th smallest value.</a:t>
            </a:r>
            <a:br/>
            <a:r>
              <a:t>• k = 1 ➜ Same as MIN</a:t>
            </a:r>
            <a:br/>
            <a:r>
              <a:t>• k = 2 ➜ 2nd lowest score</a:t>
            </a:r>
            <a:br/>
            <a:r>
              <a:t>Example: =SMALL({50, 80, 95, 70}, 2) ➜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STATISTICAL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11. COUNT, 12. MEDIAN, 13. MODE &amp; 14. RANK.EQ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3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COUNT(range)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Counts Numbers Only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Only tallies cells with numeric values (ignores text and blanks).</a:t>
            </a:r>
            <a:br/>
            <a:br/>
            <a:r>
              <a:t>Dataset: [25, 'Pass', 30, ' ']</a:t>
            </a:r>
            <a:br/>
            <a:r>
              <a:t>=COUNT(A1:A4) ➜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3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MEDIAN(range)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The Exact Middle Value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Finds the center of sorted data.</a:t>
            </a:r>
            <a:br/>
            <a:br/>
            <a:r>
              <a:t>Dataset: [10, 20, 30, 40, 50]</a:t>
            </a:r>
            <a:br/>
            <a:r>
              <a:t>=MEDIAN(A1:A5) ➜ 30</a:t>
            </a:r>
            <a:br/>
            <a:r>
              <a:t>(Resistant to extreme outliers)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MODE.SNGL(range)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Most Frequent Value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Identifies the most repeated number.</a:t>
            </a:r>
            <a:br/>
            <a:br/>
            <a:r>
              <a:t>Dataset: [5, 8, 8, 12, 15]</a:t>
            </a:r>
            <a:br/>
            <a:r>
              <a:t>=MODE.SNGL(A1:A5) ➜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RANK.EQ(val, range, [order])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Leaderboard Rank Position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Calculates a number's standing in a list.</a:t>
            </a:r>
            <a:br/>
            <a:r>
              <a:t>• order 0 (default) = High is 1st</a:t>
            </a:r>
            <a:br/>
            <a:r>
              <a:t>• order 1 = Lowest is 1st</a:t>
            </a:r>
            <a:br/>
            <a:br/>
            <a:r>
              <a:t>=RANK.EQ(95, A1:A10, 0) ➜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MATHEMATICAL REMAINDER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15. MOD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MOD(number, divisor)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Returns the remainder after dividing a number by a divisor.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Mathematical Equation:</a:t>
            </a:r>
          </a:p>
          <a:p>
            <a:pPr>
              <a:spcBef>
                <a:spcPts val="400"/>
              </a:spcBef>
              <a:defRPr sz="1300" b="1">
                <a:solidFill>
                  <a:srgbClr val="2563EB"/>
                </a:solidFill>
                <a:latin typeface="Courier New"/>
              </a:defRPr>
            </a:pPr>
            <a:r>
              <a:t>MOD(n, d) = n - d * INT(n / d)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Examples:</a:t>
            </a:r>
            <a:br/>
            <a:r>
              <a:t>• =MOD(10, 3) ➜ 1  (10 ÷ 3 = 3 remainder 1)</a:t>
            </a:r>
            <a:br/>
            <a:r>
              <a:t>• =MOD(12, 4) ➜ 0  (Exact multiple!)</a:t>
            </a:r>
            <a:br/>
            <a:r>
              <a:t>• =MOD(17, 5) ➜ 2  (17 ÷ 5 = 3 remainder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Practical Excel Applications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1. Alternating Row Colors (Zebra Striping)</a:t>
            </a:r>
            <a:br/>
            <a:r>
              <a:t>   Formula: =MOD(ROW(), 2) = 0</a:t>
            </a:r>
            <a:br/>
            <a:r>
              <a:t>   Highlights every even row automatically.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2. Packaging / Leftover Inventory</a:t>
            </a:r>
            <a:br/>
            <a:r>
              <a:t>   If you have 125 eggs in cartons of 12:</a:t>
            </a:r>
            <a:br/>
            <a:r>
              <a:t>   • Full Cartons = INT(125 / 12) = 10</a:t>
            </a:r>
            <a:br/>
            <a:r>
              <a:t>   • Leftover Eggs = MOD(125, 12) = 5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3. Time &amp; Schedule Shifts</a:t>
            </a:r>
            <a:br/>
            <a:r>
              <a:t>   Converting elapsed minutes into hours and remaining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SLIDE 20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Excel Hash Errors Diagnostic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3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Courier New"/>
              </a:defRPr>
            </a:pPr>
            <a:r>
              <a:t>####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Column Width Too Narrow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CAUSE:</a:t>
            </a:r>
            <a:br/>
            <a:r>
              <a:t>The cell contents are wider than the column width, or date is negative.</a:t>
            </a:r>
            <a:br/>
            <a:br/>
            <a:r>
              <a:t>FIX:</a:t>
            </a:r>
            <a:br/>
            <a:r>
              <a:t>Double-click the column boundary header to auto-fit width.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3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Courier New"/>
              </a:defRPr>
            </a:pPr>
            <a:r>
              <a:t>#DIV/0!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Division By Zero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CAUSE:</a:t>
            </a:r>
            <a:br/>
            <a:r>
              <a:t>A formula attempts to divide a number by 0 or by an empty cell.</a:t>
            </a:r>
            <a:br/>
            <a:br/>
            <a:r>
              <a:t>FIX:</a:t>
            </a:r>
            <a:br/>
            <a:r>
              <a:t>Check denominator cell or wrap in: =IFERROR(A1/B1,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Courier New"/>
              </a:defRPr>
            </a:pPr>
            <a:r>
              <a:t>#VALUE!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Wrong Data Type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CAUSE:</a:t>
            </a:r>
            <a:br/>
            <a:r>
              <a:t>Mathematical operator applied to text (e.g. =A1 + 'Apples').</a:t>
            </a:r>
            <a:br/>
            <a:br/>
            <a:r>
              <a:t>FIX:</a:t>
            </a:r>
            <a:br/>
            <a:r>
              <a:t>Ensure all operands contain valid numbers, or use =SUM() which ignores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C3AED"/>
                </a:solidFill>
                <a:latin typeface="Courier New"/>
              </a:defRPr>
            </a:pPr>
            <a:r>
              <a:t>#NAME?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Misspelled Formula / Name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CAUSE:</a:t>
            </a:r>
            <a:br/>
            <a:r>
              <a:t>Excel does not recognize the formula name (e.g. =SUMM(A1:A5)) or unquoted text.</a:t>
            </a:r>
            <a:br/>
            <a:br/>
            <a:r>
              <a:t>FIX:</a:t>
            </a:r>
            <a:br/>
            <a:r>
              <a:t>Check spelling of function names and add quotes to text strings.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SUMMARY &amp; 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15 Core Functions Master Cheat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91840"/>
                <a:gridCol w="4876495"/>
              </a:tblGrid>
              <a:tr h="30289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Syntax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Purpose / Key Behavior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 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=SUM(range)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Adds all numbers in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=AVERAGE(range)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Calculates arithmetic mean (Sum ÷ 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 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=ROUND(number, num_digits)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Standard rounding (≥5 up, &lt;5 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 ROUNDUP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=ROUNDUP(number, num_digits)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Always rounds away from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 ROUNDDOWN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=ROUNDDOWN(number, num_digits)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Always rounds toward 0 (truncates)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 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=INT(number)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Rounds down to nearest 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7.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=MAX(range)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Returns highest value in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8.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=MIN(range)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Returns lowest value in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9. 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=LARGE(range, 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Returns k-th largest value in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10.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=SMALL(range, 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Returns k-th smallest value in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11.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=COUNT(range)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Counts cells containing numbers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12.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=MEDIAN(range)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Finds middle sorted value (outlier-proof)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13. MODE.SNGL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=MODE.SNGL(range)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Finds most frequently occurring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14. RANK.EQ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=RANK.EQ(val, ref, [order])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Calculates leaderboard ranking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15. MOD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urier New"/>
                        </a:defRPr>
                      </a:pPr>
                      <a:r>
                        <a:t>=MOD(number, divisor)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Returns remainder after division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